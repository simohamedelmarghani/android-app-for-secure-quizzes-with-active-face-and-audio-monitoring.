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64008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App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1417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Android de Questionnaires Interactifs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Projet de Fin d'Études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MARGHANI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Mobile / Informatique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(Java/Kotlin) │ Gradle 9.2.1 │ JDK 21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Développement Mobile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du marché, lacunes existantes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128016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1764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093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Fonctionnalités, priorités, aperçu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265176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1764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093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Besoins, UML, règles de gestion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2651760" cy="128016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273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Technique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02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MVVM, stack, environnement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743200"/>
            <a:ext cx="265176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337560" y="3273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602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tests, pipeline DevOps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743200"/>
            <a:ext cx="2651760" cy="128016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3273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602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atteints, évolutions futures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 — Pourquoi Quiz App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personnalisation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génériques, peu motivants pour l'apprenant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371600"/>
            <a:ext cx="54864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progression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mesurer les progrès dans le temps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1148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68880"/>
            <a:ext cx="54864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d'explications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superficiel, erreurs répétées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148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54864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réseau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hors ligne — frein majeur en contexte éducatif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41148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66160"/>
            <a:ext cx="54864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peu ergonomique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rapide de l'application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41148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566160"/>
            <a:ext cx="54864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multi-catégories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non organisé, navigation difficile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 — Quiz 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280160"/>
            <a:ext cx="269748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280160"/>
            <a:ext cx="269748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4447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1444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multi-catégories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336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Facile / Moyen / Difficile personnalisables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69748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280160"/>
            <a:ext cx="269748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4447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1444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chronomètre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10128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/ 20s / 15s selon la difficulté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08192" y="1280160"/>
            <a:ext cx="269748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08192" y="1280160"/>
            <a:ext cx="269748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4475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444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pédagogique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17920" y="193852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détaillée après chaque réponse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92608" y="2971800"/>
            <a:ext cx="269748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92608" y="2971800"/>
            <a:ext cx="269748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13639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9536" y="3136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Stats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02336" y="36301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dernières sessions conservées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0" y="2971800"/>
            <a:ext cx="269748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2971800"/>
            <a:ext cx="269748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13639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67328" y="3136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hors ligne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10128" y="36301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Room locale — 0 dépendance réseau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08192" y="2971800"/>
            <a:ext cx="269748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08192" y="2971800"/>
            <a:ext cx="269748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3639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136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17920" y="3630168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écrans conformes aux guidelines Google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Agile Scrum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 — Planification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33472"/>
            <a:ext cx="82296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14600"/>
            <a:ext cx="201168" cy="201168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280160" cy="123444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1-2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Cadrage, maquettes, config environnement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0280" y="2514600"/>
            <a:ext cx="201168" cy="201168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926080"/>
            <a:ext cx="1280160" cy="123444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3255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3-4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74520" y="34564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navigation, architecture de base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11880" y="2514600"/>
            <a:ext cx="201168" cy="201168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188720"/>
            <a:ext cx="1280160" cy="123444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15179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5-6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46120" y="171907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&amp; banque de questions (Room)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83480" y="2514600"/>
            <a:ext cx="201168" cy="201168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926080"/>
            <a:ext cx="1280160" cy="123444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3255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7-8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17720" y="34564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quiz, chronomètre, scoring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55080" y="2514600"/>
            <a:ext cx="201168" cy="201168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1188720"/>
            <a:ext cx="1280160" cy="123444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280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9320" y="15179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9-10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89320" y="171907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Correction, explications, historique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26680" y="2514600"/>
            <a:ext cx="201168" cy="201168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926080"/>
            <a:ext cx="1280160" cy="1234440"/>
          </a:xfrm>
          <a:prstGeom prst="rect">
            <a:avLst/>
          </a:prstGeom>
          <a:solidFill>
            <a:srgbClr val="1A2E3B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60920" y="3255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11-12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60920" y="34564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tests, optimisation, documentation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 Fonctionnels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503920" cy="3794760"/>
        </p:xfrm>
        <a:graphic>
          <a:graphicData uri="http://schemas.openxmlformats.org/drawingml/2006/table">
            <a:tbl>
              <a:tblPr/>
              <a:tblGrid>
                <a:gridCol w="777240"/>
                <a:gridCol w="4114800"/>
                <a:gridCol w="2103120"/>
                <a:gridCol w="15087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Besoin Fonctionnel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Acteur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BF-01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Inscription / Connexion sécurisée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C757D"/>
                          </a:solidFill>
                        </a:rPr>
                        <a:t>Utilisateur / Admin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Obligatoire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BF-02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Sélection de catégorie de quiz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C757D"/>
                          </a:solidFill>
                        </a:rPr>
                        <a:t>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Obligatoire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BF-03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Choix du niveau de difficulté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C757D"/>
                          </a:solidFill>
                        </a:rPr>
                        <a:t>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Obligatoire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BF-04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Répondre aux questions avec chronomètre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C757D"/>
                          </a:solidFill>
                        </a:rPr>
                        <a:t>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Obligatoire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BF-05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Correction détaillée avec explications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C757D"/>
                          </a:solidFill>
                        </a:rPr>
                        <a:t>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Obligatoire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BF-06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Score et classement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C757D"/>
                          </a:solidFill>
                        </a:rPr>
                        <a:t>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39C12"/>
                          </a:solidFill>
                        </a:rPr>
                        <a:t>Importante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BF-07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Historique des quiz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C757D"/>
                          </a:solidFill>
                        </a:rPr>
                        <a:t>Utilisateur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39C12"/>
                          </a:solidFill>
                        </a:rPr>
                        <a:t>Importante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</a:rPr>
                        <a:t>BF-09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Ajouter / modifier des questions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6C757D"/>
                          </a:solidFill>
                        </a:rPr>
                        <a:t>Administrateur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Obligatoire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MVVM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 — Étude Technique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1005840"/>
          </a:xfrm>
          <a:prstGeom prst="rect">
            <a:avLst/>
          </a:prstGeom>
          <a:solidFill>
            <a:srgbClr val="1B4332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Fragment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Layouts · Adapter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657600" cy="1005840"/>
          </a:xfrm>
          <a:prstGeom prst="rect">
            <a:avLst/>
          </a:prstGeom>
          <a:solidFill>
            <a:srgbClr val="145A32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LiveData · StateFlow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Coroutines · State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657600" cy="1005840"/>
          </a:xfrm>
          <a:prstGeom prst="rect">
            <a:avLst/>
          </a:prstGeom>
          <a:solidFill>
            <a:srgbClr val="0E6655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30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0965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données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57400" y="2286000"/>
            <a:ext cx="54864" cy="228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474720"/>
            <a:ext cx="54864" cy="228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371600"/>
            <a:ext cx="1783080" cy="1280160"/>
          </a:xfrm>
          <a:prstGeom prst="rect">
            <a:avLst/>
          </a:prstGeom>
          <a:solidFill>
            <a:srgbClr val="122029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17830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4996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locale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scores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1783080" cy="1280160"/>
          </a:xfrm>
          <a:prstGeom prst="rect">
            <a:avLst/>
          </a:prstGeom>
          <a:solidFill>
            <a:srgbClr val="122029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371600"/>
            <a:ext cx="17830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4996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828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de navigation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1783080" cy="1280160"/>
          </a:xfrm>
          <a:prstGeom prst="rect">
            <a:avLst/>
          </a:prstGeom>
          <a:solidFill>
            <a:srgbClr val="122029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926080"/>
            <a:ext cx="17830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0540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 / DI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383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2926080"/>
            <a:ext cx="1783080" cy="1280160"/>
          </a:xfrm>
          <a:prstGeom prst="rect">
            <a:avLst/>
          </a:prstGeom>
          <a:solidFill>
            <a:srgbClr val="122029"/>
          </a:solidFill>
          <a:ln w="12700">
            <a:solidFill>
              <a:srgbClr val="2D5A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2926080"/>
            <a:ext cx="17830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0540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3383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Asynchronisme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1051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Android Jetpack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608" y="1207008"/>
            <a:ext cx="41148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207008"/>
            <a:ext cx="64008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984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Java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5488" y="18653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officiel Android, null-safety intégrée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27448" y="1207008"/>
            <a:ext cx="41148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27448" y="1207008"/>
            <a:ext cx="64008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29844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SDK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40680" y="1572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21+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910328" y="18653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98% des appareils Android actifs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92608" y="2468880"/>
            <a:ext cx="41148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92608" y="2468880"/>
            <a:ext cx="64008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005840" y="28346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9.2.1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75488" y="31272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 &amp; gestion des dépendances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27448" y="2468880"/>
            <a:ext cx="41148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27448" y="2468880"/>
            <a:ext cx="64008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5603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40680" y="28346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2.6+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910328" y="31272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Jetpack — stockage local questions &amp; scores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92608" y="3730752"/>
            <a:ext cx="41148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92608" y="3730752"/>
            <a:ext cx="64008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822192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05840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005840" y="40965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1.10+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75488" y="43891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complet — theming dynamique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727448" y="3730752"/>
            <a:ext cx="41148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727448" y="3730752"/>
            <a:ext cx="64008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822192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440680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Espresso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440680" y="40965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 / 3.5+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4910328" y="43891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&amp; tests d'interface automatisés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Utilisateur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 — Mise en Œuvre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" y="1325880"/>
            <a:ext cx="1965960" cy="1508760"/>
          </a:xfrm>
          <a:prstGeom prst="rect">
            <a:avLst/>
          </a:prstGeom>
          <a:solidFill>
            <a:srgbClr val="122029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435608"/>
            <a:ext cx="1325880" cy="82296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4356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31343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55117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animé, chargement BDD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1965960" cy="1508760"/>
          </a:xfrm>
          <a:prstGeom prst="rect">
            <a:avLst/>
          </a:prstGeom>
          <a:solidFill>
            <a:srgbClr val="122029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435608"/>
            <a:ext cx="1325880" cy="82296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4356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42032" y="231343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/ Inscription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2032" y="255117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sécurisée, validation formulaire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45152" y="1325880"/>
            <a:ext cx="1965960" cy="1508760"/>
          </a:xfrm>
          <a:prstGeom prst="rect">
            <a:avLst/>
          </a:prstGeom>
          <a:solidFill>
            <a:srgbClr val="122029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435608"/>
            <a:ext cx="1325880" cy="82296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4356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18304" y="231343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/ Dashboard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18304" y="255117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perso, accès rapide, classement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21424" y="1325880"/>
            <a:ext cx="1965960" cy="1508760"/>
          </a:xfrm>
          <a:prstGeom prst="rect">
            <a:avLst/>
          </a:prstGeom>
          <a:solidFill>
            <a:srgbClr val="122029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1464" y="1435608"/>
            <a:ext cx="1325880" cy="82296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41464" y="143560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94576" y="231343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Catégorie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94576" y="255117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Grille, nombre questions, difficulté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92608" y="3063240"/>
            <a:ext cx="1965960" cy="1508760"/>
          </a:xfrm>
          <a:prstGeom prst="rect">
            <a:avLst/>
          </a:prstGeom>
          <a:solidFill>
            <a:srgbClr val="122029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" y="3172968"/>
            <a:ext cx="1325880" cy="82296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1729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" y="405079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28853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options, chronomètre, progression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68880" y="3063240"/>
            <a:ext cx="1965960" cy="1508760"/>
          </a:xfrm>
          <a:prstGeom prst="rect">
            <a:avLst/>
          </a:prstGeom>
          <a:solidFill>
            <a:srgbClr val="122029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3172968"/>
            <a:ext cx="1325880" cy="82296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31729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42032" y="405079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42032" y="428853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réponse surlignée, explication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45152" y="3063240"/>
            <a:ext cx="1965960" cy="1508760"/>
          </a:xfrm>
          <a:prstGeom prst="rect">
            <a:avLst/>
          </a:prstGeom>
          <a:solidFill>
            <a:srgbClr val="122029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65192" y="3172968"/>
            <a:ext cx="1325880" cy="82296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31729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18304" y="405079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Finaux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18304" y="428853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Score/100, graphique, partage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21424" y="3063240"/>
            <a:ext cx="1965960" cy="1508760"/>
          </a:xfrm>
          <a:prstGeom prst="rect">
            <a:avLst/>
          </a:prstGeom>
          <a:solidFill>
            <a:srgbClr val="122029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41464" y="3172968"/>
            <a:ext cx="1325880" cy="82296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41464" y="31729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894576" y="405079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94576" y="428853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questions/catégories, stats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DevOps CI/CD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182112"/>
            <a:ext cx="81381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3072384"/>
            <a:ext cx="237744" cy="237744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1298448" cy="1005840"/>
          </a:xfrm>
          <a:prstGeom prst="rect">
            <a:avLst/>
          </a:prstGeom>
          <a:solidFill>
            <a:srgbClr val="2C3E5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13432" y="3072384"/>
            <a:ext cx="237744" cy="237744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01368" y="3474720"/>
            <a:ext cx="1298448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35295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47088" y="37856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47088" y="4114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+ Actions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03320" y="3072384"/>
            <a:ext cx="237744" cy="237744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1188720"/>
            <a:ext cx="1298448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36976" y="12435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36976" y="14996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36976" y="1828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Mockito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93208" y="3072384"/>
            <a:ext cx="237744" cy="237744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1144" y="3474720"/>
            <a:ext cx="1298448" cy="1005840"/>
          </a:xfrm>
          <a:prstGeom prst="rect">
            <a:avLst/>
          </a:prstGeom>
          <a:solidFill>
            <a:srgbClr val="1D6A9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5295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26864" y="37856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26864" y="4114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83096" y="3072384"/>
            <a:ext cx="237744" cy="237744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1032" y="1188720"/>
            <a:ext cx="1298448" cy="1005840"/>
          </a:xfrm>
          <a:prstGeom prst="rect">
            <a:avLst/>
          </a:prstGeom>
          <a:solidFill>
            <a:srgbClr val="6C3483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12435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16752" y="14996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Code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16752" y="1828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72984" y="3072384"/>
            <a:ext cx="237744" cy="237744"/>
          </a:xfrm>
          <a:prstGeom prst="ellipse">
            <a:avLst/>
          </a:prstGeom>
          <a:solidFill>
            <a:srgbClr val="52B7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3474720"/>
            <a:ext cx="1298448" cy="1005840"/>
          </a:xfrm>
          <a:prstGeom prst="rect">
            <a:avLst/>
          </a:prstGeom>
          <a:solidFill>
            <a:srgbClr val="7842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5295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06640" y="378561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APK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06640" y="41148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Release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Réalisations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Générale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7498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499616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4475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5528" y="140817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Android stable — build release généré, 0 crash critique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114800" cy="7498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499616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44475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84648" y="140817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multi-catégories avec niveaux de difficulté fonctionnels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4114800" cy="7498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395728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34086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5528" y="230428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quiz avec timer dynamique selon la difficulté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176272"/>
            <a:ext cx="4114800" cy="7498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2395728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34086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84648" y="230428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pédagogique détaillée après chaque réponse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72384"/>
            <a:ext cx="4114800" cy="7498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291840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23697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" y="320040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statistiques — 50 sessions conservées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072384"/>
            <a:ext cx="4114800" cy="7498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3291840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23697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84648" y="320040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 Room — 0 dépendance réseau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968496"/>
            <a:ext cx="4114800" cy="7498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" y="4187952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5528" y="4096512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DevOps CI/CD GitHub Actions opérationnel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968496"/>
            <a:ext cx="4114800" cy="7498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18888" y="4187952"/>
            <a:ext cx="237744" cy="237744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84648" y="4096512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écrans conformes Material Design 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de questions par 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399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Multijoueur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201168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en temps réel avec classement live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65176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34440"/>
            <a:ext cx="265176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399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riches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01168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avec images, audio et vidéo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5176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265176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Web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Angular pour la gestion du contenu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5176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265176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4048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Cloud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74904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des scores et progression en ligne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0760" y="2971800"/>
            <a:ext cx="2651760" cy="1508760"/>
          </a:xfrm>
          <a:prstGeom prst="rect">
            <a:avLst/>
          </a:prstGeom>
          <a:solidFill>
            <a:srgbClr val="F8F9FA"/>
          </a:solidFill>
          <a:ln w="12700">
            <a:solidFill>
              <a:srgbClr val="DDE2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971800"/>
            <a:ext cx="265176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iOS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374904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React Native pour élargir la portée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48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943600" cy="45720"/>
          </a:xfrm>
          <a:prstGeom prst="rect">
            <a:avLst/>
          </a:prstGeom>
          <a:solidFill>
            <a:srgbClr val="2A4A3A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App — Application Mobile Android de Questionnaires Interactifs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MARGHANI  |  Filière Développement Mobile  |  2025–2026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(Java/Kotlin)  •  Gradle 9.2.1  •  Architecture MVVM  •  Room DB  •  Material Design 3  •  GitHub Actions CI/CD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" y="47000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  | 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App — Rapport PFE EL MARGHANI</dc:title>
  <dc:subject>PptxGenJS Presentation</dc:subject>
  <dc:creator>PptxGenJS</dc:creator>
  <cp:lastModifiedBy>PptxGenJS</cp:lastModifiedBy>
  <cp:revision>1</cp:revision>
  <dcterms:created xsi:type="dcterms:W3CDTF">2026-05-19T14:28:53Z</dcterms:created>
  <dcterms:modified xsi:type="dcterms:W3CDTF">2026-05-19T14:28:53Z</dcterms:modified>
</cp:coreProperties>
</file>